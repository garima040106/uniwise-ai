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6C63FF"/>
                </a:solidFill>
              </a:defRPr>
            </a:pPr>
            <a:r>
              <a:t>Uniwise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RAG-Powered University Learning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C63FF"/>
                </a:solidFill>
              </a:defRPr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Students already use AI, but answers are often generic and unverifiable</a:t>
            </a:r>
          </a:p>
          <a:p>
            <a:pPr>
              <a:defRPr sz="1800"/>
            </a:pPr>
            <a:r>
              <a:t>Faculty trust drops when responses are not tied to course material</a:t>
            </a:r>
          </a:p>
          <a:p>
            <a:pPr>
              <a:defRPr sz="1800"/>
            </a:pPr>
            <a:r>
              <a:t>Academic integrity risk increases without source-backed answers</a:t>
            </a:r>
          </a:p>
          <a:p>
            <a:pPr>
              <a:defRPr sz="1800"/>
            </a:pPr>
            <a:r>
              <a:t>Faculty workload rises because students still need manual clarification</a:t>
            </a:r>
          </a:p>
          <a:p>
            <a:pPr>
              <a:defRPr sz="1800"/>
            </a:pPr>
            <a:r>
              <a:t>Institutions need AI that improves outcomes, not just speed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C63FF"/>
                </a:solidFill>
              </a:defRPr>
            </a:pPr>
            <a:r>
              <a:t>Uniwise AI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Course-aligned AI tutor grounded in faculty-uploaded materials</a:t>
            </a:r>
          </a:p>
          <a:p>
            <a:pPr>
              <a:defRPr sz="1800"/>
            </a:pPr>
            <a:r>
              <a:t>RAG retrieves relevant passages before any answer is generated</a:t>
            </a:r>
          </a:p>
          <a:p>
            <a:pPr>
              <a:defRPr sz="1800"/>
            </a:pPr>
            <a:r>
              <a:t>Every response includes sources that faculty can verify quickly</a:t>
            </a:r>
          </a:p>
          <a:p>
            <a:pPr>
              <a:defRPr sz="1800"/>
            </a:pPr>
            <a:r>
              <a:t>Flashcards and quizzes are auto-generated from approved content</a:t>
            </a:r>
          </a:p>
          <a:p>
            <a:pPr>
              <a:defRPr sz="1800"/>
            </a:pPr>
            <a:r>
              <a:t>University-level data isolation supports governance and privacy</a:t>
            </a:r>
          </a:p>
          <a:p>
            <a:pPr>
              <a:defRPr sz="1800"/>
            </a:pPr>
            <a:r>
              <a:t>Affordable, local-first architecture for campus-scale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How Uniwise RAG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1) Faculty Upload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Course documents are validated, extracted, and chunked</a:t>
            </a:r>
          </a:p>
          <a:p>
            <a:r>
              <a:t>• Chunks are embedded and indexed for semantic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4144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2) Student Asks a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52928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System searches only the university/course collection</a:t>
            </a:r>
          </a:p>
          <a:p>
            <a:r>
              <a:t>• Low-relevance chunks are filtered before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94176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3) AI Generates a Grounded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05656"/>
            <a:ext cx="74980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Model receives retrieved evidence only</a:t>
            </a:r>
          </a:p>
          <a:p>
            <a:r>
              <a:t>• Answer is returned with source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39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4) Trust &amp; Control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650992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Tenant isolation protects institutional boundaries</a:t>
            </a:r>
          </a:p>
          <a:p>
            <a:r>
              <a:t>• If evidence is missing, system says so transparently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C63FF"/>
                </a:solidFill>
              </a:defRPr>
            </a:pPr>
            <a:r>
              <a:t>Core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800"/>
            </a:pPr>
            <a:r>
              <a:t>🤖 Ask AI — Q&amp;A from course materials only</a:t>
            </a:r>
          </a:p>
          <a:p>
            <a:pPr>
              <a:spcAft>
                <a:spcPts val="1200"/>
              </a:spcAft>
              <a:defRPr sz="1800"/>
            </a:pPr>
            <a:r>
              <a:t>🃏 Auto-Generated Flashcards with spaced repetition</a:t>
            </a:r>
          </a:p>
          <a:p>
            <a:pPr>
              <a:spcAft>
                <a:spcPts val="1200"/>
              </a:spcAft>
              <a:defRPr sz="1800"/>
            </a:pPr>
            <a:r>
              <a:t>📝 Auto-Generated Quizzes with instant grading</a:t>
            </a:r>
          </a:p>
          <a:p>
            <a:pPr>
              <a:spcAft>
                <a:spcPts val="1200"/>
              </a:spcAft>
              <a:defRPr sz="1800"/>
            </a:pPr>
            <a:r>
              <a:t>📊 Progress Tracking &amp; Skill Development visualization</a:t>
            </a:r>
          </a:p>
          <a:p>
            <a:pPr>
              <a:spcAft>
                <a:spcPts val="1200"/>
              </a:spcAft>
              <a:defRPr sz="1800"/>
            </a:pPr>
            <a:r>
              <a:t>👨‍🏫 Professor &amp; Student Roles</a:t>
            </a:r>
          </a:p>
          <a:p>
            <a:pPr>
              <a:spcAft>
                <a:spcPts val="1200"/>
              </a:spcAft>
              <a:defRPr sz="1800"/>
            </a:pPr>
            <a:r>
              <a:t>🔒 University Data Isolation (multi-tenant)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Why Faculty Can Trust Uniwise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❌ Generic AI Tools</a:t>
            </a:r>
          </a:p>
          <a:p>
            <a:r>
              <a:t>• Broad, non-syllabus responses</a:t>
            </a:r>
          </a:p>
          <a:p>
            <a:r>
              <a:t>• Hard to verify in grading context</a:t>
            </a:r>
          </a:p>
          <a:p>
            <a:r>
              <a:t>• Higher hallucination risk</a:t>
            </a:r>
          </a:p>
          <a:p>
            <a:r>
              <a:t>• Limited institutional control</a:t>
            </a:r>
          </a:p>
          <a:p>
            <a:r>
              <a:t>• Weak audit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Uniwise AI</a:t>
            </a:r>
          </a:p>
          <a:p>
            <a:r>
              <a:t>• Syllabus-grounded retrieval before answering</a:t>
            </a:r>
          </a:p>
          <a:p>
            <a:r>
              <a:t>• Source citations for verification</a:t>
            </a:r>
          </a:p>
          <a:p>
            <a:r>
              <a:t>• Constrained generation from course evidence</a:t>
            </a:r>
          </a:p>
          <a:p>
            <a:r>
              <a:t>• University-owned data boundaries</a:t>
            </a:r>
          </a:p>
          <a:p>
            <a:r>
              <a:t>• Clear accountability for academic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Technical Reliability (Judge 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Only authenticated university users can query their institution corpus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4144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Retrieval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52928"/>
            <a:ext cx="74980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ChromaDB returns top semantic matches</a:t>
            </a:r>
          </a:p>
          <a:p>
            <a:r>
              <a:t>• Distance threshold removes weak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86784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Grounded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98264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Prompt policy blocks external knowledge</a:t>
            </a:r>
          </a:p>
          <a:p>
            <a:r>
              <a:t>• Sources are attached to each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39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Safe 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650992"/>
            <a:ext cx="74980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When evidence is absent, system returns “not found in documents”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C63FF"/>
                </a:solidFill>
              </a:defRPr>
            </a:pPr>
            <a:r>
              <a:t>Security &amp; Privacy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Institution-controlled deployment: core data remains on university infrastructure</a:t>
            </a:r>
          </a:p>
          <a:p>
            <a:pPr>
              <a:defRPr sz="1800"/>
            </a:pPr>
            <a:r>
              <a:t>University/course-scoped collections enforce tenant isolation</a:t>
            </a:r>
          </a:p>
          <a:p>
            <a:pPr>
              <a:defRPr sz="1800"/>
            </a:pPr>
            <a:r>
              <a:t>Role-based workflow supports faculty governance of uploaded content</a:t>
            </a:r>
          </a:p>
          <a:p>
            <a:pPr>
              <a:defRPr sz="1800"/>
            </a:pPr>
            <a:r>
              <a:t>Citation-first responses improve auditability and integrity reviews</a:t>
            </a:r>
          </a:p>
          <a:p>
            <a:pPr>
              <a:defRPr sz="1800"/>
            </a:pPr>
            <a:r>
              <a:t>Deletion path removes documents from both storage and retrieval index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6C63FF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Backend</a:t>
            </a:r>
          </a:p>
          <a:p>
            <a:r>
              <a:t>• Django REST APIs for documents, RAG, quizzes, flashcards</a:t>
            </a:r>
          </a:p>
          <a:p>
            <a:r>
              <a:t>• PostgreSQL for users, content metadata, learning artifacts</a:t>
            </a:r>
          </a:p>
          <a:p>
            <a:r>
              <a:t>• ChromaDB for semantic vector retrieval</a:t>
            </a:r>
          </a:p>
          <a:p>
            <a:r>
              <a:t>• Ollama (`llama3.2:3b`) for local answer generation</a:t>
            </a:r>
          </a:p>
          <a:p>
            <a:r>
              <a:t>• Configurable relevance + context limits via Django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Frontend</a:t>
            </a:r>
          </a:p>
          <a:p>
            <a:r>
              <a:t>• React interface for Q&amp;A, flashcards, quiz workflows</a:t>
            </a:r>
          </a:p>
          <a:p>
            <a:r>
              <a:t>• Role-aware UX for professor and student journeys</a:t>
            </a:r>
          </a:p>
          <a:p>
            <a:r>
              <a:t>• Progress and analytics views for learning feedback</a:t>
            </a:r>
          </a:p>
          <a:p>
            <a:r>
              <a:t>• Works in browser and connects to local Docker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Cost &amp; ROI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000" b="0">
                <a:solidFill>
                  <a:srgbClr val="FF6584"/>
                </a:solidFill>
              </a:defRPr>
            </a:pPr>
            <a:r>
              <a:t>ChatGPT Plus (500 students)............. $10,000/month</a:t>
            </a:r>
          </a:p>
          <a:p>
            <a:pPr>
              <a:spcAft>
                <a:spcPts val="1200"/>
              </a:spcAft>
              <a:defRPr sz="2000" b="0">
                <a:solidFill>
                  <a:srgbClr val="FF6584"/>
                </a:solidFill>
              </a:defRPr>
            </a:pPr>
            <a:r>
              <a:t>Chegg (500 students).................... $10,000/month</a:t>
            </a:r>
          </a:p>
          <a:p>
            <a:pPr>
              <a:spcAft>
                <a:spcPts val="1200"/>
              </a:spcAft>
              <a:defRPr sz="2000" b="0">
                <a:solidFill>
                  <a:srgbClr val="43E97B"/>
                </a:solidFill>
              </a:defRPr>
            </a:pPr>
            <a:r>
              <a:t>Uniwise AI (500 students)............... $100/month</a:t>
            </a:r>
          </a:p>
          <a:p>
            <a:pPr>
              <a:spcAft>
                <a:spcPts val="1200"/>
              </a:spcAft>
              <a:defRPr sz="2000" b="0">
                <a:solidFill>
                  <a:srgbClr val="FFFFFF"/>
                </a:solidFill>
              </a:defRPr>
            </a:pPr>
            <a:r>
              <a:t>........................................ </a:t>
            </a:r>
          </a:p>
          <a:p>
            <a:pPr>
              <a:spcAft>
                <a:spcPts val="1200"/>
              </a:spcAft>
              <a:defRPr sz="2000" b="1">
                <a:solidFill>
                  <a:srgbClr val="43E97B"/>
                </a:solidFill>
              </a:defRPr>
            </a:pPr>
            <a:r>
              <a:t>Annual Savings.......................... $118,800/year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C63FF"/>
                </a:solidFill>
              </a:defRPr>
            </a:pPr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800"/>
            </a:pPr>
            <a:r>
              <a:t>👨‍🎓 Students: 24/7 AI tutor using course materials</a:t>
            </a:r>
          </a:p>
          <a:p>
            <a:pPr>
              <a:spcAft>
                <a:spcPts val="1200"/>
              </a:spcAft>
              <a:defRPr sz="1800"/>
            </a:pPr>
            <a:r>
              <a:t>👨‍🏫 Professors: Auto-generate study materials, reduce repetitive questions</a:t>
            </a:r>
          </a:p>
          <a:p>
            <a:pPr>
              <a:spcAft>
                <a:spcPts val="1200"/>
              </a:spcAft>
              <a:defRPr sz="1800"/>
            </a:pPr>
            <a:r>
              <a:t>🏛️ Universities: Improve retention, demonstrate innovation</a:t>
            </a:r>
          </a:p>
          <a:p>
            <a:pPr>
              <a:spcAft>
                <a:spcPts val="1200"/>
              </a:spcAft>
              <a:defRPr sz="1800"/>
            </a:pPr>
            <a:r>
              <a:t>📚 Libraries: Make textbooks searchable with AI Q&amp;A</a:t>
            </a:r>
          </a:p>
          <a:p>
            <a:pPr>
              <a:spcAft>
                <a:spcPts val="1200"/>
              </a:spcAft>
              <a:defRPr sz="1800"/>
            </a:pPr>
            <a:r>
              <a:t>🎓 Online Courses: Add AI tutoring to MOOCs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6C63FF"/>
                </a:solidFill>
              </a:defRPr>
            </a:pPr>
            <a:r>
              <a:t>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43E97B"/>
                </a:solidFill>
              </a:defRPr>
            </a:pPr>
            <a:r>
              <a:t>Technical</a:t>
            </a:r>
          </a:p>
          <a:p>
            <a:pPr>
              <a:spcAft>
                <a:spcPts val="800"/>
              </a:spcAft>
              <a:defRPr sz="1400"/>
            </a:pPr>
            <a:r>
              <a:t>• RAG prevents hallucinations</a:t>
            </a:r>
          </a:p>
          <a:p>
            <a:pPr>
              <a:spcAft>
                <a:spcPts val="800"/>
              </a:spcAft>
              <a:defRPr sz="1400"/>
            </a:pPr>
            <a:r>
              <a:t>• Source citations for every answer</a:t>
            </a:r>
          </a:p>
          <a:p>
            <a:pPr>
              <a:spcAft>
                <a:spcPts val="800"/>
              </a:spcAft>
              <a:defRPr sz="1400"/>
            </a:pPr>
            <a:r>
              <a:t>• Runs offline (no internet needed)</a:t>
            </a:r>
          </a:p>
          <a:p>
            <a:pPr>
              <a:spcAft>
                <a:spcPts val="800"/>
              </a:spcAft>
              <a:defRPr sz="1400"/>
            </a:pPr>
            <a:r>
              <a:t>• CPU-optimized (no GPU required)</a:t>
            </a:r>
          </a:p>
          <a:p>
            <a:pPr>
              <a:spcAft>
                <a:spcPts val="800"/>
              </a:spcAft>
              <a:defRPr sz="1400"/>
            </a:pPr>
            <a:r>
              <a:t>• Open-source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FF6584"/>
                </a:solidFill>
              </a:defRPr>
            </a:pPr>
            <a:r>
              <a:t>Business</a:t>
            </a:r>
          </a:p>
          <a:p>
            <a:pPr>
              <a:spcAft>
                <a:spcPts val="800"/>
              </a:spcAft>
              <a:defRPr sz="1400"/>
            </a:pPr>
            <a:r>
              <a:t>• One-time setup vs subscription</a:t>
            </a:r>
          </a:p>
          <a:p>
            <a:pPr>
              <a:spcAft>
                <a:spcPts val="800"/>
              </a:spcAft>
              <a:defRPr sz="1400"/>
            </a:pPr>
            <a:r>
              <a:t>• 100x cheaper than ChatGPT</a:t>
            </a:r>
          </a:p>
          <a:p>
            <a:pPr>
              <a:spcAft>
                <a:spcPts val="800"/>
              </a:spcAft>
              <a:defRPr sz="1400"/>
            </a:pPr>
            <a:r>
              <a:t>• Data stays on university servers</a:t>
            </a:r>
          </a:p>
          <a:p>
            <a:pPr>
              <a:spcAft>
                <a:spcPts val="800"/>
              </a:spcAft>
              <a:defRPr sz="1400"/>
            </a:pPr>
            <a:r>
              <a:t>• Curriculum-aligned content</a:t>
            </a:r>
          </a:p>
          <a:p>
            <a:pPr>
              <a:spcAft>
                <a:spcPts val="800"/>
              </a:spcAft>
              <a:defRPr sz="1400"/>
            </a:pPr>
            <a:r>
              <a:t>• Academic integrity built-in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C63FF"/>
                </a:solidFill>
              </a:defRPr>
            </a:pPr>
            <a:r>
              <a:t>Proof of Concept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Working end-to-end platform is complete and presentation-ready</a:t>
            </a:r>
          </a:p>
          <a:p>
            <a:pPr>
              <a:defRPr sz="1800"/>
            </a:pPr>
            <a:r>
              <a:t>RAG Q&amp;A, flashcards, and quizzes operate in one integrated workflow</a:t>
            </a:r>
          </a:p>
          <a:p>
            <a:pPr>
              <a:defRPr sz="1800"/>
            </a:pPr>
            <a:r>
              <a:t>Evidence-backed answer format aligns with faculty expectations</a:t>
            </a:r>
          </a:p>
          <a:p>
            <a:pPr>
              <a:defRPr sz="1800"/>
            </a:pPr>
            <a:r>
              <a:t>Pilot-ready for 1-2 courses with clear success metrics</a:t>
            </a:r>
          </a:p>
          <a:p>
            <a:pPr>
              <a:defRPr sz="1800"/>
            </a:pPr>
            <a:r>
              <a:t>Suggested KPIs: trust score, usage, retention, and faculty time saved</a:t>
            </a:r>
          </a:p>
          <a:p>
            <a:pPr>
              <a:defRPr sz="1800"/>
            </a:pPr>
            <a:r>
              <a:t>Scalable path from pilot to department and campus rollout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C63FF"/>
                </a:solidFill>
              </a:defRPr>
            </a:pPr>
            <a:r>
              <a:t>Live Demo Available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Access: http://localhost:3000</a:t>
            </a:r>
          </a:p>
          <a:p/>
          <a:p>
            <a:r>
              <a:t>GitHub: github.com/[username]/uniwise-ai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6C63FF"/>
                </a:solidFill>
              </a:defRPr>
            </a:pPr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Launch pilot with 50-100 students across 1-2 courses</a:t>
            </a:r>
          </a:p>
          <a:p>
            <a:pPr>
              <a:defRPr sz="1800"/>
            </a:pPr>
            <a:r>
              <a:t>Measure baseline vs post-pilot on outcomes and engagement</a:t>
            </a:r>
          </a:p>
          <a:p>
            <a:pPr>
              <a:defRPr sz="1800"/>
            </a:pPr>
            <a:r>
              <a:t>Run weekly faculty feedback loop for rapid improvement</a:t>
            </a:r>
          </a:p>
          <a:p>
            <a:pPr>
              <a:defRPr sz="1800"/>
            </a:pPr>
            <a:r>
              <a:t>Finalize governance checklist for institutional approval</a:t>
            </a:r>
          </a:p>
          <a:p>
            <a:pPr>
              <a:defRPr sz="1800"/>
            </a:pPr>
            <a:r>
              <a:t>Scale to department rollout after pilot validation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6C63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Questions?</a:t>
            </a:r>
          </a:p>
          <a:p/>
          <a:p>
            <a:r>
              <a:t>Email: [your-email]</a:t>
            </a:r>
          </a:p>
          <a:p>
            <a:r>
              <a:t>GitHub: github.com/[username]/uniwise-ai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