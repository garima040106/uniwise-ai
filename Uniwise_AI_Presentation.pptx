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6C63FF"/>
                </a:solidFill>
              </a:defRPr>
            </a:pPr>
            <a:r>
              <a:t>Uniwise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RAG-Powered University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C63FF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Students use ChatGPT for homework — but it gives generic answers</a:t>
            </a:r>
          </a:p>
          <a:p>
            <a:pPr>
              <a:spcAft>
                <a:spcPts val="1200"/>
              </a:spcAft>
              <a:defRPr sz="1800"/>
            </a:pPr>
            <a:r>
              <a:t>Generic AI tools hallucinate facts not in your curriculum</a:t>
            </a:r>
          </a:p>
          <a:p>
            <a:pPr>
              <a:spcAft>
                <a:spcPts val="1200"/>
              </a:spcAft>
              <a:defRPr sz="1800"/>
            </a:pPr>
            <a:r>
              <a:t>No way to verify if answers come from course materials</a:t>
            </a:r>
          </a:p>
          <a:p>
            <a:pPr>
              <a:spcAft>
                <a:spcPts val="1200"/>
              </a:spcAft>
              <a:defRPr sz="1800"/>
            </a:pPr>
            <a:r>
              <a:t>Promotes academic dishonesty</a:t>
            </a:r>
          </a:p>
          <a:p>
            <a:pPr>
              <a:spcAft>
                <a:spcPts val="1200"/>
              </a:spcAft>
              <a:defRPr sz="1800"/>
            </a:pPr>
            <a:r>
              <a:t>Students struggle to retain information from passive reading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C63FF"/>
                </a:solidFill>
              </a:defRPr>
            </a:pPr>
            <a:r>
              <a:t>Uniwise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AI that ONLY answers from professor-uploaded documents</a:t>
            </a:r>
          </a:p>
          <a:p>
            <a:pPr>
              <a:spcAft>
                <a:spcPts val="1200"/>
              </a:spcAft>
              <a:defRPr sz="1800"/>
            </a:pPr>
            <a:r>
              <a:t>RAG (Retrieval Augmented Generation) prevents hallucinations</a:t>
            </a:r>
          </a:p>
          <a:p>
            <a:pPr>
              <a:spcAft>
                <a:spcPts val="1200"/>
              </a:spcAft>
              <a:defRPr sz="1800"/>
            </a:pPr>
            <a:r>
              <a:t>Every answer includes source citations</a:t>
            </a:r>
          </a:p>
          <a:p>
            <a:pPr>
              <a:spcAft>
                <a:spcPts val="1200"/>
              </a:spcAft>
              <a:defRPr sz="1800"/>
            </a:pPr>
            <a:r>
              <a:t>Automatic flashcards &amp; quizzes from your content</a:t>
            </a:r>
          </a:p>
          <a:p>
            <a:pPr>
              <a:spcAft>
                <a:spcPts val="1200"/>
              </a:spcAft>
              <a:defRPr sz="1800"/>
            </a:pPr>
            <a:r>
              <a:t>Progress tracking and spaced repetition learning</a:t>
            </a:r>
          </a:p>
          <a:p>
            <a:pPr>
              <a:spcAft>
                <a:spcPts val="1200"/>
              </a:spcAft>
              <a:defRPr sz="1800"/>
            </a:pPr>
            <a:r>
              <a:t>University data isolation — 100% privacy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/>
            </a:pPr>
            <a:r>
              <a:t>1. Professor uploads course documents (PDF, DOCX, TXT)</a:t>
            </a:r>
          </a:p>
          <a:p>
            <a:pPr>
              <a:spcAft>
                <a:spcPts val="1400"/>
              </a:spcAft>
              <a:defRPr sz="1600"/>
            </a:pPr>
            <a:r>
              <a:t>2. System extracts text and creates searchable 'embeddings'</a:t>
            </a:r>
          </a:p>
          <a:p>
            <a:pPr>
              <a:spcAft>
                <a:spcPts val="1400"/>
              </a:spcAft>
              <a:defRPr sz="1600"/>
            </a:pPr>
            <a:r>
              <a:t>3. Student asks: 'What is photosynthesis?'</a:t>
            </a:r>
          </a:p>
          <a:p>
            <a:pPr>
              <a:spcAft>
                <a:spcPts val="1400"/>
              </a:spcAft>
              <a:defRPr sz="1600"/>
            </a:pPr>
            <a:r>
              <a:t>4. System searches YOUR documents for relevant paragraphs</a:t>
            </a:r>
          </a:p>
          <a:p>
            <a:pPr>
              <a:spcAft>
                <a:spcPts val="1400"/>
              </a:spcAft>
              <a:defRPr sz="1600"/>
            </a:pPr>
            <a:r>
              <a:t>5. AI receives ONLY those paragraphs as context</a:t>
            </a:r>
          </a:p>
          <a:p>
            <a:pPr>
              <a:spcAft>
                <a:spcPts val="1400"/>
              </a:spcAft>
              <a:defRPr sz="1600"/>
            </a:pPr>
            <a:r>
              <a:t>6. AI generates answer using ONLY provided context</a:t>
            </a:r>
          </a:p>
          <a:p>
            <a:pPr>
              <a:spcAft>
                <a:spcPts val="1400"/>
              </a:spcAft>
              <a:defRPr sz="1600"/>
            </a:pPr>
            <a:r>
              <a:t>7. Answer returned with source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C63FF"/>
                </a:solidFill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🤖 Ask AI — Q&amp;A from course materials only</a:t>
            </a:r>
          </a:p>
          <a:p>
            <a:pPr>
              <a:spcAft>
                <a:spcPts val="1200"/>
              </a:spcAft>
              <a:defRPr sz="1800"/>
            </a:pPr>
            <a:r>
              <a:t>🃏 Auto-Generated Flashcards with spaced repetition</a:t>
            </a:r>
          </a:p>
          <a:p>
            <a:pPr>
              <a:spcAft>
                <a:spcPts val="1200"/>
              </a:spcAft>
              <a:defRPr sz="1800"/>
            </a:pPr>
            <a:r>
              <a:t>📝 Auto-Generated Quizzes with instant grading</a:t>
            </a:r>
          </a:p>
          <a:p>
            <a:pPr>
              <a:spcAft>
                <a:spcPts val="1200"/>
              </a:spcAft>
              <a:defRPr sz="1800"/>
            </a:pPr>
            <a:r>
              <a:t>📊 Progress Tracking &amp; Skill Development visualization</a:t>
            </a:r>
          </a:p>
          <a:p>
            <a:pPr>
              <a:spcAft>
                <a:spcPts val="1200"/>
              </a:spcAft>
              <a:defRPr sz="1800"/>
            </a:pPr>
            <a:r>
              <a:t>👨‍🏫 Professor &amp; Student Roles</a:t>
            </a:r>
          </a:p>
          <a:p>
            <a:pPr>
              <a:spcAft>
                <a:spcPts val="1200"/>
              </a:spcAft>
              <a:defRPr sz="1800"/>
            </a:pPr>
            <a:r>
              <a:t>🔒 University Data Isolation (multi-tenant)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RAG vs Generic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43E97B"/>
                </a:solidFill>
              </a:defRPr>
            </a:pPr>
            <a:r>
              <a:t>❌ Generic AI (ChatGPT)</a:t>
            </a:r>
          </a:p>
          <a:p>
            <a:pPr>
              <a:spcAft>
                <a:spcPts val="800"/>
              </a:spcAft>
              <a:defRPr sz="1400"/>
            </a:pPr>
            <a:r>
              <a:t>• Uses general knowledge from training</a:t>
            </a:r>
          </a:p>
          <a:p>
            <a:pPr>
              <a:spcAft>
                <a:spcPts val="800"/>
              </a:spcAft>
              <a:defRPr sz="1400"/>
            </a:pPr>
            <a:r>
              <a:t>• May provide outdated information</a:t>
            </a:r>
          </a:p>
          <a:p>
            <a:pPr>
              <a:spcAft>
                <a:spcPts val="800"/>
              </a:spcAft>
              <a:defRPr sz="1400"/>
            </a:pPr>
            <a:r>
              <a:t>• No source verification</a:t>
            </a:r>
          </a:p>
          <a:p>
            <a:pPr>
              <a:spcAft>
                <a:spcPts val="800"/>
              </a:spcAft>
              <a:defRPr sz="1400"/>
            </a:pPr>
            <a:r>
              <a:t>• Can make up facts</a:t>
            </a:r>
          </a:p>
          <a:p>
            <a:pPr>
              <a:spcAft>
                <a:spcPts val="800"/>
              </a:spcAft>
              <a:defRPr sz="1400"/>
            </a:pPr>
            <a:r>
              <a:t>• Not curriculum-specific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6584"/>
                </a:solidFill>
              </a:defRPr>
            </a:pPr>
            <a:r>
              <a:t>✅ Uniwise AI (RAG)</a:t>
            </a:r>
          </a:p>
          <a:p>
            <a:pPr>
              <a:spcAft>
                <a:spcPts val="800"/>
              </a:spcAft>
              <a:defRPr sz="1400"/>
            </a:pPr>
            <a:r>
              <a:t>• Only uses YOUR uploaded documents</a:t>
            </a:r>
          </a:p>
          <a:p>
            <a:pPr>
              <a:spcAft>
                <a:spcPts val="800"/>
              </a:spcAft>
              <a:defRPr sz="1400"/>
            </a:pPr>
            <a:r>
              <a:t>• Always up-to-date with your content</a:t>
            </a:r>
          </a:p>
          <a:p>
            <a:pPr>
              <a:spcAft>
                <a:spcPts val="800"/>
              </a:spcAft>
              <a:defRPr sz="1400"/>
            </a:pPr>
            <a:r>
              <a:t>• Every answer cites source document</a:t>
            </a:r>
          </a:p>
          <a:p>
            <a:pPr>
              <a:spcAft>
                <a:spcPts val="800"/>
              </a:spcAft>
              <a:defRPr sz="1400"/>
            </a:pPr>
            <a:r>
              <a:t>• Cannot make up facts</a:t>
            </a:r>
          </a:p>
          <a:p>
            <a:pPr>
              <a:spcAft>
                <a:spcPts val="800"/>
              </a:spcAft>
              <a:defRPr sz="1400"/>
            </a:pPr>
            <a:r>
              <a:t>• 100% curriculum-aligned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Courier New"/>
              </a:defRPr>
            </a:pPr>
            <a:r>
              <a:t>React Frontend (Student Interface)</a:t>
            </a:r>
            <a:br/>
            <a:r>
              <a:t>        ↓</a:t>
            </a:r>
            <a:br/>
            <a:r>
              <a:t>Django Backend (Python)</a:t>
            </a:r>
            <a:br/>
            <a:r>
              <a:t>        ↓</a:t>
            </a:r>
            <a:br/>
            <a:r>
              <a:t>┌───────────┬───────────┬───────────┐</a:t>
            </a:r>
            <a:br/>
            <a:r>
              <a:t>│           │           │           │</a:t>
            </a:r>
            <a:br/>
            <a:r>
              <a:t>PostgreSQL  ChromaDB   Ollama AI</a:t>
            </a:r>
            <a:br/>
            <a:r>
              <a:t>(Database)  (Vectors)  (llama3.2)</a:t>
            </a:r>
            <a:br/>
            <a:br/>
            <a:r>
              <a:t>- PostgreSQL: User data, quizzes, progress</a:t>
            </a:r>
            <a:br/>
            <a:r>
              <a:t>- ChromaDB: Document embeddings (RAG)</a:t>
            </a:r>
            <a:br/>
            <a:r>
              <a:t>- Ollama: Local AI (no cloud, no costs)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C63FF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🏛️ University Data Isolation — each university has separate database</a:t>
            </a:r>
          </a:p>
          <a:p>
            <a:pPr>
              <a:spcAft>
                <a:spcPts val="1200"/>
              </a:spcAft>
              <a:defRPr sz="1800"/>
            </a:pPr>
            <a:r>
              <a:t>🔐 Role-Based Access — Professor vs Student permissions</a:t>
            </a:r>
          </a:p>
          <a:p>
            <a:pPr>
              <a:spcAft>
                <a:spcPts val="1200"/>
              </a:spcAft>
              <a:defRPr sz="1800"/>
            </a:pPr>
            <a:r>
              <a:t>💻 Runs on YOUR server — no data sent to OpenAI/cloud</a:t>
            </a:r>
          </a:p>
          <a:p>
            <a:pPr>
              <a:spcAft>
                <a:spcPts val="1200"/>
              </a:spcAft>
              <a:defRPr sz="1800"/>
            </a:pPr>
            <a:r>
              <a:t>📜 GDPR/FERPA compliant architecture</a:t>
            </a:r>
          </a:p>
          <a:p>
            <a:pPr>
              <a:spcAft>
                <a:spcPts val="1200"/>
              </a:spcAft>
              <a:defRPr sz="1800"/>
            </a:pPr>
            <a:r>
              <a:t>✅ All answers cite source documents for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43E97B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400"/>
            </a:pPr>
            <a:r>
              <a:t>• Django 5.0 (Python framework)</a:t>
            </a:r>
          </a:p>
          <a:p>
            <a:pPr>
              <a:spcAft>
                <a:spcPts val="800"/>
              </a:spcAft>
              <a:defRPr sz="1400"/>
            </a:pPr>
            <a:r>
              <a:t>• PostgreSQL database</a:t>
            </a:r>
          </a:p>
          <a:p>
            <a:pPr>
              <a:spcAft>
                <a:spcPts val="800"/>
              </a:spcAft>
              <a:defRPr sz="1400"/>
            </a:pPr>
            <a:r>
              <a:t>• ChromaDB vector store</a:t>
            </a:r>
          </a:p>
          <a:p>
            <a:pPr>
              <a:spcAft>
                <a:spcPts val="800"/>
              </a:spcAft>
              <a:defRPr sz="1400"/>
            </a:pPr>
            <a:r>
              <a:t>• Ollama (llama3.2:3b — CPU optimized)</a:t>
            </a:r>
          </a:p>
          <a:p>
            <a:pPr>
              <a:spcAft>
                <a:spcPts val="800"/>
              </a:spcAft>
              <a:defRPr sz="1400"/>
            </a:pPr>
            <a:r>
              <a:t>• Docker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6584"/>
                </a:solidFill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400"/>
            </a:pPr>
            <a:r>
              <a:t>• React.js interface</a:t>
            </a:r>
          </a:p>
          <a:p>
            <a:pPr>
              <a:spcAft>
                <a:spcPts val="800"/>
              </a:spcAft>
              <a:defRPr sz="1400"/>
            </a:pPr>
            <a:r>
              <a:t>• Responsive design</a:t>
            </a:r>
          </a:p>
          <a:p>
            <a:pPr>
              <a:spcAft>
                <a:spcPts val="800"/>
              </a:spcAft>
              <a:defRPr sz="1400"/>
            </a:pPr>
            <a:r>
              <a:t>• Real-time progress charts</a:t>
            </a:r>
          </a:p>
          <a:p>
            <a:pPr>
              <a:spcAft>
                <a:spcPts val="800"/>
              </a:spcAft>
              <a:defRPr sz="1400"/>
            </a:pPr>
            <a:r>
              <a:t>• Dark theme UI</a:t>
            </a:r>
          </a:p>
          <a:p>
            <a:pPr>
              <a:spcAft>
                <a:spcPts val="800"/>
              </a:spcAft>
              <a:defRPr sz="1400"/>
            </a:pPr>
            <a:r>
              <a:t>• Works on any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Cost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0">
                <a:solidFill>
                  <a:srgbClr val="FF6584"/>
                </a:solidFill>
              </a:defRPr>
            </a:pPr>
            <a:r>
              <a:t>ChatGPT Plus (500 students)............. $10,000/month</a:t>
            </a:r>
          </a:p>
          <a:p>
            <a:pPr>
              <a:spcAft>
                <a:spcPts val="1200"/>
              </a:spcAft>
              <a:defRPr sz="2000" b="0">
                <a:solidFill>
                  <a:srgbClr val="FF6584"/>
                </a:solidFill>
              </a:defRPr>
            </a:pPr>
            <a:r>
              <a:t>Chegg (500 students).................... $10,000/month</a:t>
            </a:r>
          </a:p>
          <a:p>
            <a:pPr>
              <a:spcAft>
                <a:spcPts val="1200"/>
              </a:spcAft>
              <a:defRPr sz="2000" b="0">
                <a:solidFill>
                  <a:srgbClr val="43E97B"/>
                </a:solidFill>
              </a:defRPr>
            </a:pPr>
            <a:r>
              <a:t>Uniwise AI (500 students)............... $100/month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</a:defRPr>
            </a:pPr>
            <a:r>
              <a:t>........................................ </a:t>
            </a:r>
          </a:p>
          <a:p>
            <a:pPr>
              <a:spcAft>
                <a:spcPts val="1200"/>
              </a:spcAft>
              <a:defRPr sz="2000" b="1">
                <a:solidFill>
                  <a:srgbClr val="43E97B"/>
                </a:solidFill>
              </a:defRPr>
            </a:pPr>
            <a:r>
              <a:t>Annual Savings.......................... $118,800/year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C63FF"/>
                </a:solidFill>
              </a:defRPr>
            </a:pPr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👨‍🎓 Students: 24/7 AI tutor using course materials</a:t>
            </a:r>
          </a:p>
          <a:p>
            <a:pPr>
              <a:spcAft>
                <a:spcPts val="1200"/>
              </a:spcAft>
              <a:defRPr sz="1800"/>
            </a:pPr>
            <a:r>
              <a:t>👨‍🏫 Professors: Auto-generate study materials, reduce repetitive questions</a:t>
            </a:r>
          </a:p>
          <a:p>
            <a:pPr>
              <a:spcAft>
                <a:spcPts val="1200"/>
              </a:spcAft>
              <a:defRPr sz="1800"/>
            </a:pPr>
            <a:r>
              <a:t>🏛️ Universities: Improve retention, demonstrate innovation</a:t>
            </a:r>
          </a:p>
          <a:p>
            <a:pPr>
              <a:spcAft>
                <a:spcPts val="1200"/>
              </a:spcAft>
              <a:defRPr sz="1800"/>
            </a:pPr>
            <a:r>
              <a:t>📚 Libraries: Make textbooks searchable with AI Q&amp;A</a:t>
            </a:r>
          </a:p>
          <a:p>
            <a:pPr>
              <a:spcAft>
                <a:spcPts val="1200"/>
              </a:spcAft>
              <a:defRPr sz="1800"/>
            </a:pPr>
            <a:r>
              <a:t>🎓 Online Courses: Add AI tutoring to MOOCs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43E97B"/>
                </a:solidFill>
              </a:defRPr>
            </a:pPr>
            <a:r>
              <a:t>Technical</a:t>
            </a:r>
          </a:p>
          <a:p>
            <a:pPr>
              <a:spcAft>
                <a:spcPts val="800"/>
              </a:spcAft>
              <a:defRPr sz="1400"/>
            </a:pPr>
            <a:r>
              <a:t>• RAG prevents hallucinations</a:t>
            </a:r>
          </a:p>
          <a:p>
            <a:pPr>
              <a:spcAft>
                <a:spcPts val="800"/>
              </a:spcAft>
              <a:defRPr sz="1400"/>
            </a:pPr>
            <a:r>
              <a:t>• Source citations for every answer</a:t>
            </a:r>
          </a:p>
          <a:p>
            <a:pPr>
              <a:spcAft>
                <a:spcPts val="800"/>
              </a:spcAft>
              <a:defRPr sz="1400"/>
            </a:pPr>
            <a:r>
              <a:t>• Runs offline (no internet needed)</a:t>
            </a:r>
          </a:p>
          <a:p>
            <a:pPr>
              <a:spcAft>
                <a:spcPts val="800"/>
              </a:spcAft>
              <a:defRPr sz="1400"/>
            </a:pPr>
            <a:r>
              <a:t>• CPU-optimized (no GPU required)</a:t>
            </a:r>
          </a:p>
          <a:p>
            <a:pPr>
              <a:spcAft>
                <a:spcPts val="800"/>
              </a:spcAft>
              <a:defRPr sz="1400"/>
            </a:pPr>
            <a:r>
              <a:t>• Open-source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6584"/>
                </a:solidFill>
              </a:defRPr>
            </a:pPr>
            <a:r>
              <a:t>Business</a:t>
            </a:r>
          </a:p>
          <a:p>
            <a:pPr>
              <a:spcAft>
                <a:spcPts val="800"/>
              </a:spcAft>
              <a:defRPr sz="1400"/>
            </a:pPr>
            <a:r>
              <a:t>• One-time setup vs subscription</a:t>
            </a:r>
          </a:p>
          <a:p>
            <a:pPr>
              <a:spcAft>
                <a:spcPts val="800"/>
              </a:spcAft>
              <a:defRPr sz="1400"/>
            </a:pPr>
            <a:r>
              <a:t>• 100x cheaper than ChatGPT</a:t>
            </a:r>
          </a:p>
          <a:p>
            <a:pPr>
              <a:spcAft>
                <a:spcPts val="800"/>
              </a:spcAft>
              <a:defRPr sz="1400"/>
            </a:pPr>
            <a:r>
              <a:t>• Data stays on university servers</a:t>
            </a:r>
          </a:p>
          <a:p>
            <a:pPr>
              <a:spcAft>
                <a:spcPts val="800"/>
              </a:spcAft>
              <a:defRPr sz="1400"/>
            </a:pPr>
            <a:r>
              <a:t>• Curriculum-aligned content</a:t>
            </a:r>
          </a:p>
          <a:p>
            <a:pPr>
              <a:spcAft>
                <a:spcPts val="800"/>
              </a:spcAft>
              <a:defRPr sz="1400"/>
            </a:pPr>
            <a:r>
              <a:t>• Academic integrity built-in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C63FF"/>
                </a:solidFill>
              </a:defRPr>
            </a:pPr>
            <a:r>
              <a:t>Proof of Concept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Full RAG implementation complete</a:t>
            </a:r>
          </a:p>
          <a:p>
            <a:pPr>
              <a:spcAft>
                <a:spcPts val="1200"/>
              </a:spcAft>
              <a:defRPr sz="1800"/>
            </a:pPr>
            <a:r>
              <a:t>✅ Document upload and processing working</a:t>
            </a:r>
          </a:p>
          <a:p>
            <a:pPr>
              <a:spcAft>
                <a:spcPts val="1200"/>
              </a:spcAft>
              <a:defRPr sz="1800"/>
            </a:pPr>
            <a:r>
              <a:t>✅ AI Q&amp;A, flashcards, quizzes functional</a:t>
            </a:r>
          </a:p>
          <a:p>
            <a:pPr>
              <a:spcAft>
                <a:spcPts val="1200"/>
              </a:spcAft>
              <a:defRPr sz="1800"/>
            </a:pPr>
            <a:r>
              <a:t>✅ Progress tracking and analytics</a:t>
            </a:r>
          </a:p>
          <a:p>
            <a:pPr>
              <a:spcAft>
                <a:spcPts val="1200"/>
              </a:spcAft>
              <a:defRPr sz="1800"/>
            </a:pPr>
            <a:r>
              <a:t>✅ Docker deployment ready</a:t>
            </a:r>
          </a:p>
          <a:p>
            <a:pPr>
              <a:spcAft>
                <a:spcPts val="1200"/>
              </a:spcAft>
              <a:defRPr sz="1800"/>
            </a:pPr>
            <a:r>
              <a:t>✅ Web interface live</a:t>
            </a:r>
          </a:p>
          <a:p>
            <a:pPr>
              <a:spcAft>
                <a:spcPts val="1200"/>
              </a:spcAft>
              <a:defRPr sz="1800"/>
            </a:pPr>
            <a:r>
              <a:t>🎯 Ready for pilot with 50-100 students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C63FF"/>
                </a:solidFill>
              </a:defRPr>
            </a:pPr>
            <a:r>
              <a:t>Live Demo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Access: http://localhost:3000</a:t>
            </a:r>
          </a:p>
          <a:p/>
          <a:p>
            <a:r>
              <a:t>GitHub: github.com/[username]/uniwise-ai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C63FF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Pilot program with 1-2 courses (50-100 students)</a:t>
            </a:r>
          </a:p>
          <a:p>
            <a:pPr>
              <a:spcAft>
                <a:spcPts val="1200"/>
              </a:spcAft>
              <a:defRPr sz="1800"/>
            </a:pPr>
            <a:r>
              <a:t>2. Gather feedback and analytics</a:t>
            </a:r>
          </a:p>
          <a:p>
            <a:pPr>
              <a:spcAft>
                <a:spcPts val="1200"/>
              </a:spcAft>
              <a:defRPr sz="1800"/>
            </a:pPr>
            <a:r>
              <a:t>3. Expand to more courses based on success</a:t>
            </a:r>
          </a:p>
          <a:p>
            <a:pPr>
              <a:spcAft>
                <a:spcPts val="1200"/>
              </a:spcAft>
              <a:defRPr sz="1800"/>
            </a:pPr>
            <a:r>
              <a:t>4. University-wide rollout</a:t>
            </a:r>
          </a:p>
          <a:p>
            <a:pPr>
              <a:spcAft>
                <a:spcPts val="1200"/>
              </a:spcAft>
              <a:defRPr sz="1800"/>
            </a:pPr>
            <a:r>
              <a:t>5. Integration with existing LMS (Canvas, Blackboard)</a:t>
            </a:r>
          </a:p>
          <a:p>
            <a:pPr>
              <a:spcAft>
                <a:spcPts val="1200"/>
              </a:spcAft>
              <a:defRPr sz="1800"/>
            </a:pPr>
            <a:r>
              <a:t>6. Scale to multiple universities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6C63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</a:p>
          <a:p/>
          <a:p>
            <a:r>
              <a:t>Email: [your-email]</a:t>
            </a:r>
          </a:p>
          <a:p>
            <a:r>
              <a:t>GitHub: github.com/[username]/uniwise-ai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